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4" r:id="rId4"/>
    <p:sldId id="274" r:id="rId5"/>
    <p:sldId id="273" r:id="rId6"/>
    <p:sldId id="276" r:id="rId7"/>
    <p:sldId id="27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jair Oliveira - SENAI RONDONOPOLIS" initials="DOSR" lastIdx="15" clrIdx="0">
    <p:extLst>
      <p:ext uri="{19B8F6BF-5375-455C-9EA6-DF929625EA0E}">
        <p15:presenceInfo xmlns:p15="http://schemas.microsoft.com/office/powerpoint/2012/main" userId="S::djair.oliveira@senaimt.ind.br::62b24908-5a18-4d76-99ce-57c56005ce0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110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9T14:18:07.137" idx="1">
    <p:pos x="1514" y="2896"/>
    <p:text>LINK DO FILME: Após abrir o link, espere 10s e click no (X) para fechar a tela de anuncio.</p:text>
    <p:extLst>
      <p:ext uri="{C676402C-5697-4E1C-873F-D02D1690AC5C}">
        <p15:threadingInfo xmlns:p15="http://schemas.microsoft.com/office/powerpoint/2012/main" timeZoneBias="240"/>
      </p:ext>
    </p:extLst>
  </p:cm>
  <p:cm authorId="1" dt="2026-06-19T16:32:31.207" idx="11">
    <p:pos x="4894" y="1199"/>
    <p:text>Apresentar os times:
TIMES MT
9168
9169
9602
9603
9604
10291
10295
10297
10298
TIMES BR
1156
7563
7565
TIMES MUNDIAL
1323
1690
4414
2910
2056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9T16:02:25.894" idx="4">
    <p:pos x="551" y="2467"/>
    <p:text>17 a 46</p:text>
    <p:extLst>
      <p:ext uri="{C676402C-5697-4E1C-873F-D02D1690AC5C}">
        <p15:threadingInfo xmlns:p15="http://schemas.microsoft.com/office/powerpoint/2012/main" timeZoneBias="240"/>
      </p:ext>
    </p:extLst>
  </p:cm>
  <p:cm authorId="1" dt="2026-06-19T16:03:27.806" idx="5">
    <p:pos x="533" y="2794"/>
    <p:text>47 a 53</p:text>
    <p:extLst>
      <p:ext uri="{C676402C-5697-4E1C-873F-D02D1690AC5C}">
        <p15:threadingInfo xmlns:p15="http://schemas.microsoft.com/office/powerpoint/2012/main" timeZoneBias="240"/>
      </p:ext>
    </p:extLst>
  </p:cm>
  <p:cm authorId="1" dt="2026-06-19T16:04:20.835" idx="6">
    <p:pos x="539" y="3123"/>
    <p:text>54 a 73</p:text>
    <p:extLst>
      <p:ext uri="{C676402C-5697-4E1C-873F-D02D1690AC5C}">
        <p15:threadingInfo xmlns:p15="http://schemas.microsoft.com/office/powerpoint/2012/main" timeZoneBias="240"/>
      </p:ext>
    </p:extLst>
  </p:cm>
  <p:cm authorId="1" dt="2026-06-19T16:04:52.587" idx="8">
    <p:pos x="569" y="3501"/>
    <p:text>74 a 99</p:text>
    <p:extLst>
      <p:ext uri="{C676402C-5697-4E1C-873F-D02D1690AC5C}">
        <p15:threadingInfo xmlns:p15="http://schemas.microsoft.com/office/powerpoint/2012/main" timeZoneBias="240"/>
      </p:ext>
    </p:extLst>
  </p:cm>
  <p:cm authorId="1" dt="2026-06-19T16:06:27.964" idx="9">
    <p:pos x="5375" y="1625"/>
    <p:text>Link para o site oficial da FIRST</p:text>
    <p:extLst>
      <p:ext uri="{C676402C-5697-4E1C-873F-D02D1690AC5C}">
        <p15:threadingInfo xmlns:p15="http://schemas.microsoft.com/office/powerpoint/2012/main" timeZoneBias="240"/>
      </p:ext>
    </p:extLst>
  </p:cm>
  <p:cm authorId="1" dt="2026-06-19T16:29:25.355" idx="10">
    <p:pos x="6999" y="1555"/>
    <p:text>CAD dos elementos da arena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9T17:04:36.187" idx="12">
    <p:pos x="2321" y="3084"/>
    <p:text>Essa seleção de areas dos alunos é apenas para nortear a quantidade de alunos interessado em cada area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9T17:15:55.761" idx="13">
    <p:pos x="2277" y="2464"/>
    <p:text>Excel, Miro, Planner, Kanban e etc...</p:text>
    <p:extLst>
      <p:ext uri="{C676402C-5697-4E1C-873F-D02D1690AC5C}">
        <p15:threadingInfo xmlns:p15="http://schemas.microsoft.com/office/powerpoint/2012/main" timeZoneBias="240"/>
      </p:ext>
    </p:extLst>
  </p:cm>
  <p:cm authorId="1" dt="2026-06-19T17:23:25.306" idx="14">
    <p:pos x="5551" y="3005"/>
    <p:text>Para realização da tarefa, é recomendado se usar o modelo oficial como base(Modelo utilizado pelo Diego nas Reuniões), entendendo todos os critérios necessarios.</p:text>
    <p:extLst>
      <p:ext uri="{C676402C-5697-4E1C-873F-D02D1690AC5C}">
        <p15:threadingInfo xmlns:p15="http://schemas.microsoft.com/office/powerpoint/2012/main" timeZoneBias="240"/>
      </p:ext>
    </p:extLst>
  </p:cm>
  <p:cm authorId="1" dt="2026-06-19T17:43:01.155" idx="15">
    <p:pos x="5556" y="2027"/>
    <p:text>Exemplo de Cronograma, AGROBOT Season AGE</p:text>
    <p:extLst>
      <p:ext uri="{C676402C-5697-4E1C-873F-D02D1690AC5C}">
        <p15:threadingInfo xmlns:p15="http://schemas.microsoft.com/office/powerpoint/2012/main" timeZoneBias="2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F7A6-441B-41C2-B9B8-8499445F134E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4044B-EECF-44C6-98C9-1204AD4A2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6035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F7A6-441B-41C2-B9B8-8499445F134E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4044B-EECF-44C6-98C9-1204AD4A2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3317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F7A6-441B-41C2-B9B8-8499445F134E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4044B-EECF-44C6-98C9-1204AD4A2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5450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F7A6-441B-41C2-B9B8-8499445F134E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4044B-EECF-44C6-98C9-1204AD4A2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3576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F7A6-441B-41C2-B9B8-8499445F134E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4044B-EECF-44C6-98C9-1204AD4A2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638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F7A6-441B-41C2-B9B8-8499445F134E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4044B-EECF-44C6-98C9-1204AD4A2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0271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F7A6-441B-41C2-B9B8-8499445F134E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4044B-EECF-44C6-98C9-1204AD4A2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587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F7A6-441B-41C2-B9B8-8499445F134E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4044B-EECF-44C6-98C9-1204AD4A2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7030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1525F7A6-441B-41C2-B9B8-8499445F134E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9414044B-EECF-44C6-98C9-1204AD4A2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0511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F7A6-441B-41C2-B9B8-8499445F134E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4044B-EECF-44C6-98C9-1204AD4A2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9016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F7A6-441B-41C2-B9B8-8499445F134E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4044B-EECF-44C6-98C9-1204AD4A2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1508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F7A6-441B-41C2-B9B8-8499445F134E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4044B-EECF-44C6-98C9-1204AD4A2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081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F7A6-441B-41C2-B9B8-8499445F134E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4044B-EECF-44C6-98C9-1204AD4A2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67691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F7A6-441B-41C2-B9B8-8499445F134E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4044B-EECF-44C6-98C9-1204AD4A2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72321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F7A6-441B-41C2-B9B8-8499445F134E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4044B-EECF-44C6-98C9-1204AD4A2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00833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F7A6-441B-41C2-B9B8-8499445F134E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4044B-EECF-44C6-98C9-1204AD4A2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9885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F7A6-441B-41C2-B9B8-8499445F134E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4044B-EECF-44C6-98C9-1204AD4A2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1691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525F7A6-441B-41C2-B9B8-8499445F134E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9414044B-EECF-44C6-98C9-1204AD4A2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39036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PKyUg_Dd9Qw" TargetMode="External"/><Relationship Id="rId11" Type="http://schemas.openxmlformats.org/officeDocument/2006/relationships/hyperlink" Target="https://www.thebluealliance.com/" TargetMode="External"/><Relationship Id="rId5" Type="http://schemas.openxmlformats.org/officeDocument/2006/relationships/image" Target="../media/image5.jpeg"/><Relationship Id="rId10" Type="http://schemas.microsoft.com/office/2007/relationships/hdphoto" Target="../media/hdphoto1.wdp"/><Relationship Id="rId4" Type="http://schemas.openxmlformats.org/officeDocument/2006/relationships/hyperlink" Target="https://www.lookmovie2.to/movies/play/1707391620-more-than-robots-2022" TargetMode="External"/><Relationship Id="rId9" Type="http://schemas.openxmlformats.org/officeDocument/2006/relationships/image" Target="../media/image8.png"/><Relationship Id="rId1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12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irstinspires.org/resources/library/frc/season-materials?view=calendar" TargetMode="External"/><Relationship Id="rId11" Type="http://schemas.openxmlformats.org/officeDocument/2006/relationships/hyperlink" Target="https://www.firstinspires.org/resources/library/frc/playing-field" TargetMode="External"/><Relationship Id="rId5" Type="http://schemas.openxmlformats.org/officeDocument/2006/relationships/image" Target="../media/image6.png"/><Relationship Id="rId10" Type="http://schemas.microsoft.com/office/2007/relationships/hdphoto" Target="../media/hdphoto1.wdp"/><Relationship Id="rId4" Type="http://schemas.openxmlformats.org/officeDocument/2006/relationships/hyperlink" Target="https://www.youtube.com/watch?v=X3RI7mX9HkU&amp;t=1872s" TargetMode="External"/><Relationship Id="rId9" Type="http://schemas.openxmlformats.org/officeDocument/2006/relationships/image" Target="../media/image8.png"/><Relationship Id="rId1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www.firstinspires.org/resources/library/frc/awards" TargetMode="External"/><Relationship Id="rId7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comments" Target="../comments/comment3.xml"/><Relationship Id="rId4" Type="http://schemas.openxmlformats.org/officeDocument/2006/relationships/image" Target="../media/image13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FRCMT-Repositories/Curso-2026/raw/refs/heads/main/Fundamentos%20da%20Rob%C3%B3tica%20Competitiva%20e%20Engenharia%20de%20Equipes/Cronograma%20Exemplo.xlsx" TargetMode="External"/><Relationship Id="rId5" Type="http://schemas.openxmlformats.org/officeDocument/2006/relationships/image" Target="../media/image10.png"/><Relationship Id="rId10" Type="http://schemas.openxmlformats.org/officeDocument/2006/relationships/comments" Target="../comments/comment4.xml"/><Relationship Id="rId4" Type="http://schemas.openxmlformats.org/officeDocument/2006/relationships/image" Target="../media/image7.png"/><Relationship Id="rId9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5C07E47-FC0C-4D7E-99D5-253589883255}"/>
              </a:ext>
            </a:extLst>
          </p:cNvPr>
          <p:cNvSpPr/>
          <p:nvPr/>
        </p:nvSpPr>
        <p:spPr>
          <a:xfrm>
            <a:off x="0" y="0"/>
            <a:ext cx="12191999" cy="226654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5D0AAF-57F6-ED5D-0B88-6775E700D7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551" y="5613930"/>
            <a:ext cx="8837917" cy="1109599"/>
          </a:xfrm>
        </p:spPr>
        <p:txBody>
          <a:bodyPr>
            <a:noAutofit/>
          </a:bodyPr>
          <a:lstStyle/>
          <a:p>
            <a:r>
              <a:rPr lang="pt-BR" sz="6600" b="1" dirty="0">
                <a:ln w="3175" cmpd="sng"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innerShdw blurRad="63500" dist="50800" dir="5400000">
                    <a:prstClr val="black">
                      <a:alpha val="50000"/>
                    </a:prstClr>
                  </a:innerShdw>
                </a:effectLst>
              </a:rPr>
              <a:t>INTRODUÇÃO A FRC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AB564B-ADD8-4689-B47D-479E0B6B4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66900" y="1"/>
            <a:ext cx="3125099" cy="6858000"/>
          </a:xfrm>
          <a:prstGeom prst="rect">
            <a:avLst/>
          </a:prstGeom>
          <a:solidFill>
            <a:srgbClr val="363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34D109-15AA-4283-A14C-F630CD88D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895765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1E8C17-E280-423E-BE27-607AA18BD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066901" y="1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outerShdw blurRad="57150" dist="25400" algn="l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2052" name="Picture 4" descr="FIRST Brand and Logo Files | FIRST">
            <a:extLst>
              <a:ext uri="{FF2B5EF4-FFF2-40B4-BE49-F238E27FC236}">
                <a16:creationId xmlns:a16="http://schemas.microsoft.com/office/drawing/2014/main" id="{17BF7B98-2445-F6E6-3FD8-41BF23DE5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0595" y="2833908"/>
            <a:ext cx="3480737" cy="2195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0C7F75C-7BF8-4625-A85E-5F612A2BC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157" y="106326"/>
            <a:ext cx="7801249" cy="1968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1288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7">
            <a:extLst>
              <a:ext uri="{FF2B5EF4-FFF2-40B4-BE49-F238E27FC236}">
                <a16:creationId xmlns:a16="http://schemas.microsoft.com/office/drawing/2014/main" id="{375136A9-49F9-4DA0-A741-F065B0FA0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3356" y="0"/>
            <a:ext cx="7558643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B912F6C7-0423-4B6F-AECE-710C84891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446539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208205-03EE-4EC8-9C34-59270C188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2336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E503B0B-F514-5680-B81B-1344D064C12E}"/>
              </a:ext>
            </a:extLst>
          </p:cNvPr>
          <p:cNvSpPr txBox="1"/>
          <p:nvPr/>
        </p:nvSpPr>
        <p:spPr>
          <a:xfrm>
            <a:off x="764233" y="374780"/>
            <a:ext cx="2979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n w="0">
                  <a:solidFill>
                    <a:srgbClr val="FFFF00"/>
                  </a:solidFill>
                </a:ln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TEMAS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7E52ED1-E175-A227-A8B1-F94279F4A365}"/>
              </a:ext>
            </a:extLst>
          </p:cNvPr>
          <p:cNvSpPr txBox="1"/>
          <p:nvPr/>
        </p:nvSpPr>
        <p:spPr>
          <a:xfrm>
            <a:off x="846000" y="1624171"/>
            <a:ext cx="43285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FRC</a:t>
            </a:r>
          </a:p>
          <a:p>
            <a:r>
              <a:rPr lang="pt-BR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CURSO</a:t>
            </a:r>
          </a:p>
          <a:p>
            <a:r>
              <a:rPr lang="pt-BR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VIAJEM</a:t>
            </a:r>
          </a:p>
        </p:txBody>
      </p:sp>
    </p:spTree>
    <p:extLst>
      <p:ext uri="{BB962C8B-B14F-4D97-AF65-F5344CB8AC3E}">
        <p14:creationId xmlns:p14="http://schemas.microsoft.com/office/powerpoint/2010/main" val="2398143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B9C121F8-6DAB-41C5-A058-6E04E47B3402}"/>
              </a:ext>
            </a:extLst>
          </p:cNvPr>
          <p:cNvGrpSpPr/>
          <p:nvPr/>
        </p:nvGrpSpPr>
        <p:grpSpPr>
          <a:xfrm>
            <a:off x="304478" y="1809345"/>
            <a:ext cx="4249752" cy="4829264"/>
            <a:chOff x="187746" y="1877438"/>
            <a:chExt cx="4249752" cy="4829264"/>
          </a:xfrm>
        </p:grpSpPr>
        <p:pic>
          <p:nvPicPr>
            <p:cNvPr id="2060" name="Picture 12" descr="papel de nota branco 11287526 PNG">
              <a:extLst>
                <a:ext uri="{FF2B5EF4-FFF2-40B4-BE49-F238E27FC236}">
                  <a16:creationId xmlns:a16="http://schemas.microsoft.com/office/drawing/2014/main" id="{2241BA24-03EC-49EF-A152-D103B58758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746" y="1877438"/>
              <a:ext cx="4249752" cy="4829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5B21FAF0-A53D-48BD-8369-48C4064B8DF9}"/>
                </a:ext>
              </a:extLst>
            </p:cNvPr>
            <p:cNvSpPr txBox="1"/>
            <p:nvPr/>
          </p:nvSpPr>
          <p:spPr>
            <a:xfrm>
              <a:off x="503120" y="2999018"/>
              <a:ext cx="3670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</a:rPr>
                <a:t>1. Vídeo YT - </a:t>
              </a:r>
              <a:r>
                <a:rPr lang="pt-BR" dirty="0" err="1">
                  <a:solidFill>
                    <a:schemeClr val="bg1"/>
                  </a:solidFill>
                </a:rPr>
                <a:t>Robonáticos</a:t>
              </a:r>
              <a:endParaRPr lang="pt-BR" dirty="0">
                <a:solidFill>
                  <a:schemeClr val="bg1"/>
                </a:solidFill>
              </a:endParaRP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7CFA62D4-CBA3-4BF3-9522-BE087F11417F}"/>
                </a:ext>
              </a:extLst>
            </p:cNvPr>
            <p:cNvSpPr txBox="1"/>
            <p:nvPr/>
          </p:nvSpPr>
          <p:spPr>
            <a:xfrm>
              <a:off x="503120" y="3489651"/>
              <a:ext cx="3670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</a:rPr>
                <a:t>1.1. Explicar por cima do vídeo</a:t>
              </a: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47200EAF-09EE-454B-B46F-DF168B5378E2}"/>
                </a:ext>
              </a:extLst>
            </p:cNvPr>
            <p:cNvSpPr txBox="1"/>
            <p:nvPr/>
          </p:nvSpPr>
          <p:spPr>
            <a:xfrm>
              <a:off x="498295" y="4099676"/>
              <a:ext cx="3453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</a:rPr>
                <a:t>2. The Blue Alliance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29F3E8E1-F83D-453A-82C9-0A951C1AFA44}"/>
                </a:ext>
              </a:extLst>
            </p:cNvPr>
            <p:cNvSpPr txBox="1"/>
            <p:nvPr/>
          </p:nvSpPr>
          <p:spPr>
            <a:xfrm>
              <a:off x="498294" y="4651333"/>
              <a:ext cx="3670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</a:rPr>
                <a:t>3. Assistir o filme</a:t>
              </a:r>
            </a:p>
          </p:txBody>
        </p:sp>
      </p:grp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014FBDAD-41F5-9271-1458-B1069D05C050}"/>
              </a:ext>
            </a:extLst>
          </p:cNvPr>
          <p:cNvSpPr/>
          <p:nvPr/>
        </p:nvSpPr>
        <p:spPr>
          <a:xfrm>
            <a:off x="2117141" y="58368"/>
            <a:ext cx="6839543" cy="1245140"/>
          </a:xfrm>
          <a:prstGeom prst="rightArrow">
            <a:avLst>
              <a:gd name="adj1" fmla="val 50000"/>
              <a:gd name="adj2" fmla="val 86274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OQUE É FRC</a:t>
            </a:r>
          </a:p>
        </p:txBody>
      </p:sp>
      <p:pic>
        <p:nvPicPr>
          <p:cNvPr id="12" name="Picture 4" descr="FIRST Brand and Logo Files | FIRST">
            <a:extLst>
              <a:ext uri="{FF2B5EF4-FFF2-40B4-BE49-F238E27FC236}">
                <a16:creationId xmlns:a16="http://schemas.microsoft.com/office/drawing/2014/main" id="{BF6A2643-6B79-F356-21C8-CE85AC8A3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719"/>
            <a:ext cx="211455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Mais Que Robôs (2022) - IMDb">
            <a:hlinkClick r:id="rId4"/>
            <a:extLst>
              <a:ext uri="{FF2B5EF4-FFF2-40B4-BE49-F238E27FC236}">
                <a16:creationId xmlns:a16="http://schemas.microsoft.com/office/drawing/2014/main" id="{CCD7319C-3505-40E2-8FA2-3BABF3642B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8706" y="1524195"/>
            <a:ext cx="3395548" cy="5028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Youtube - ícones de mídia social grátis">
            <a:hlinkClick r:id="rId6"/>
            <a:extLst>
              <a:ext uri="{FF2B5EF4-FFF2-40B4-BE49-F238E27FC236}">
                <a16:creationId xmlns:a16="http://schemas.microsoft.com/office/drawing/2014/main" id="{28E55EFD-CAA8-4F6A-82B9-01B1E1015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5047" y="1598883"/>
            <a:ext cx="1562446" cy="1562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Lista de tarefas - ícones de arquivos e pastas grátis">
            <a:extLst>
              <a:ext uri="{FF2B5EF4-FFF2-40B4-BE49-F238E27FC236}">
                <a16:creationId xmlns:a16="http://schemas.microsoft.com/office/drawing/2014/main" id="{05B14FFA-938C-4A5E-BF17-E4A0C8553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7657" y="4878133"/>
            <a:ext cx="1674779" cy="1674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749623A9-618B-4043-93EA-98F7794ACF88}"/>
              </a:ext>
            </a:extLst>
          </p:cNvPr>
          <p:cNvSpPr txBox="1"/>
          <p:nvPr/>
        </p:nvSpPr>
        <p:spPr>
          <a:xfrm>
            <a:off x="5352436" y="5158704"/>
            <a:ext cx="3178721" cy="1200329"/>
          </a:xfrm>
          <a:custGeom>
            <a:avLst/>
            <a:gdLst>
              <a:gd name="connsiteX0" fmla="*/ 0 w 3178721"/>
              <a:gd name="connsiteY0" fmla="*/ 0 h 1200329"/>
              <a:gd name="connsiteX1" fmla="*/ 667531 w 3178721"/>
              <a:gd name="connsiteY1" fmla="*/ 0 h 1200329"/>
              <a:gd name="connsiteX2" fmla="*/ 1303276 w 3178721"/>
              <a:gd name="connsiteY2" fmla="*/ 0 h 1200329"/>
              <a:gd name="connsiteX3" fmla="*/ 1907233 w 3178721"/>
              <a:gd name="connsiteY3" fmla="*/ 0 h 1200329"/>
              <a:gd name="connsiteX4" fmla="*/ 2447615 w 3178721"/>
              <a:gd name="connsiteY4" fmla="*/ 0 h 1200329"/>
              <a:gd name="connsiteX5" fmla="*/ 3178721 w 3178721"/>
              <a:gd name="connsiteY5" fmla="*/ 0 h 1200329"/>
              <a:gd name="connsiteX6" fmla="*/ 3178721 w 3178721"/>
              <a:gd name="connsiteY6" fmla="*/ 612168 h 1200329"/>
              <a:gd name="connsiteX7" fmla="*/ 3178721 w 3178721"/>
              <a:gd name="connsiteY7" fmla="*/ 1200329 h 1200329"/>
              <a:gd name="connsiteX8" fmla="*/ 2479402 w 3178721"/>
              <a:gd name="connsiteY8" fmla="*/ 1200329 h 1200329"/>
              <a:gd name="connsiteX9" fmla="*/ 1939020 w 3178721"/>
              <a:gd name="connsiteY9" fmla="*/ 1200329 h 1200329"/>
              <a:gd name="connsiteX10" fmla="*/ 1271488 w 3178721"/>
              <a:gd name="connsiteY10" fmla="*/ 1200329 h 1200329"/>
              <a:gd name="connsiteX11" fmla="*/ 572170 w 3178721"/>
              <a:gd name="connsiteY11" fmla="*/ 1200329 h 1200329"/>
              <a:gd name="connsiteX12" fmla="*/ 0 w 3178721"/>
              <a:gd name="connsiteY12" fmla="*/ 1200329 h 1200329"/>
              <a:gd name="connsiteX13" fmla="*/ 0 w 3178721"/>
              <a:gd name="connsiteY13" fmla="*/ 588161 h 1200329"/>
              <a:gd name="connsiteX14" fmla="*/ 0 w 3178721"/>
              <a:gd name="connsiteY14" fmla="*/ 0 h 1200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78721" h="1200329" extrusionOk="0">
                <a:moveTo>
                  <a:pt x="0" y="0"/>
                </a:moveTo>
                <a:cubicBezTo>
                  <a:pt x="223899" y="-28300"/>
                  <a:pt x="405131" y="-26143"/>
                  <a:pt x="667531" y="0"/>
                </a:cubicBezTo>
                <a:cubicBezTo>
                  <a:pt x="929931" y="26143"/>
                  <a:pt x="1052586" y="20008"/>
                  <a:pt x="1303276" y="0"/>
                </a:cubicBezTo>
                <a:cubicBezTo>
                  <a:pt x="1553966" y="-20008"/>
                  <a:pt x="1621363" y="-24059"/>
                  <a:pt x="1907233" y="0"/>
                </a:cubicBezTo>
                <a:cubicBezTo>
                  <a:pt x="2193103" y="24059"/>
                  <a:pt x="2193376" y="-18174"/>
                  <a:pt x="2447615" y="0"/>
                </a:cubicBezTo>
                <a:cubicBezTo>
                  <a:pt x="2701854" y="18174"/>
                  <a:pt x="2861167" y="-19238"/>
                  <a:pt x="3178721" y="0"/>
                </a:cubicBezTo>
                <a:cubicBezTo>
                  <a:pt x="3166172" y="167789"/>
                  <a:pt x="3196662" y="321771"/>
                  <a:pt x="3178721" y="612168"/>
                </a:cubicBezTo>
                <a:cubicBezTo>
                  <a:pt x="3160780" y="902565"/>
                  <a:pt x="3156192" y="929726"/>
                  <a:pt x="3178721" y="1200329"/>
                </a:cubicBezTo>
                <a:cubicBezTo>
                  <a:pt x="2855840" y="1180168"/>
                  <a:pt x="2728393" y="1188316"/>
                  <a:pt x="2479402" y="1200329"/>
                </a:cubicBezTo>
                <a:cubicBezTo>
                  <a:pt x="2230411" y="1212342"/>
                  <a:pt x="2113060" y="1212049"/>
                  <a:pt x="1939020" y="1200329"/>
                </a:cubicBezTo>
                <a:cubicBezTo>
                  <a:pt x="1764980" y="1188609"/>
                  <a:pt x="1523647" y="1169010"/>
                  <a:pt x="1271488" y="1200329"/>
                </a:cubicBezTo>
                <a:cubicBezTo>
                  <a:pt x="1019329" y="1231648"/>
                  <a:pt x="734534" y="1194546"/>
                  <a:pt x="572170" y="1200329"/>
                </a:cubicBezTo>
                <a:cubicBezTo>
                  <a:pt x="409806" y="1206112"/>
                  <a:pt x="127749" y="1227008"/>
                  <a:pt x="0" y="1200329"/>
                </a:cubicBezTo>
                <a:cubicBezTo>
                  <a:pt x="10412" y="1005194"/>
                  <a:pt x="19828" y="821349"/>
                  <a:pt x="0" y="588161"/>
                </a:cubicBezTo>
                <a:cubicBezTo>
                  <a:pt x="-19828" y="354973"/>
                  <a:pt x="21342" y="255862"/>
                  <a:pt x="0" y="0"/>
                </a:cubicBezTo>
                <a:close/>
              </a:path>
            </a:pathLst>
          </a:custGeom>
          <a:noFill/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98069433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just"/>
            <a:r>
              <a:rPr lang="pt-BR" b="1" i="1" u="sng" dirty="0"/>
              <a:t>Tarefa para casa: </a:t>
            </a:r>
          </a:p>
          <a:p>
            <a:pPr algn="just"/>
            <a:r>
              <a:rPr lang="pt-BR" dirty="0"/>
              <a:t>Relatório manuscrito sobre a aula, mínimo de 4 paginas.</a:t>
            </a:r>
          </a:p>
        </p:txBody>
      </p:sp>
      <p:pic>
        <p:nvPicPr>
          <p:cNvPr id="27" name="Picture 10" descr="Clicando - ícones de gestos grátis">
            <a:extLst>
              <a:ext uri="{FF2B5EF4-FFF2-40B4-BE49-F238E27FC236}">
                <a16:creationId xmlns:a16="http://schemas.microsoft.com/office/drawing/2014/main" id="{84D8F67D-6A34-4C0D-8DF0-19DEF04E4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6270" y="2326798"/>
            <a:ext cx="1143397" cy="1143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0" descr="Clicando - ícones de gestos grátis">
            <a:extLst>
              <a:ext uri="{FF2B5EF4-FFF2-40B4-BE49-F238E27FC236}">
                <a16:creationId xmlns:a16="http://schemas.microsoft.com/office/drawing/2014/main" id="{35981968-E792-4BB7-BA44-674136F39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9032" y="3183684"/>
            <a:ext cx="1143397" cy="1143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The Blue Alliance Blog – Analysis, stories, tips, and updates related to  FIRST Robotics and The Blue Alliance">
            <a:hlinkClick r:id="rId11"/>
            <a:extLst>
              <a:ext uri="{FF2B5EF4-FFF2-40B4-BE49-F238E27FC236}">
                <a16:creationId xmlns:a16="http://schemas.microsoft.com/office/drawing/2014/main" id="{E5D5F045-EB22-4901-9B31-D4C41CC00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281" y="1679953"/>
            <a:ext cx="1400305" cy="1400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0" descr="Clicando - ícones de gestos grátis">
            <a:extLst>
              <a:ext uri="{FF2B5EF4-FFF2-40B4-BE49-F238E27FC236}">
                <a16:creationId xmlns:a16="http://schemas.microsoft.com/office/drawing/2014/main" id="{66F1B71D-C49E-4573-99EE-DE7797A03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5735" y="2342982"/>
            <a:ext cx="1143397" cy="1143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Agrupar 18">
            <a:extLst>
              <a:ext uri="{FF2B5EF4-FFF2-40B4-BE49-F238E27FC236}">
                <a16:creationId xmlns:a16="http://schemas.microsoft.com/office/drawing/2014/main" id="{F16E8741-8B05-4FDF-AF95-F569CD486EAE}"/>
              </a:ext>
            </a:extLst>
          </p:cNvPr>
          <p:cNvGrpSpPr/>
          <p:nvPr/>
        </p:nvGrpSpPr>
        <p:grpSpPr>
          <a:xfrm>
            <a:off x="8956684" y="132080"/>
            <a:ext cx="3143876" cy="1103333"/>
            <a:chOff x="8956684" y="132080"/>
            <a:chExt cx="3143876" cy="1103333"/>
          </a:xfrm>
        </p:grpSpPr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A4250F-DD0C-4005-92BD-EE90F5E2E4F5}"/>
                </a:ext>
              </a:extLst>
            </p:cNvPr>
            <p:cNvSpPr/>
            <p:nvPr/>
          </p:nvSpPr>
          <p:spPr>
            <a:xfrm>
              <a:off x="9007810" y="132080"/>
              <a:ext cx="3092750" cy="11033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29B311B5-3E3D-4FDF-B444-AEA77C7E6A37}"/>
                </a:ext>
              </a:extLst>
            </p:cNvPr>
            <p:cNvSpPr txBox="1"/>
            <p:nvPr/>
          </p:nvSpPr>
          <p:spPr>
            <a:xfrm>
              <a:off x="8956684" y="295177"/>
              <a:ext cx="220536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400" b="1" dirty="0">
                  <a:latin typeface="Arial Rounded MT Bold" panose="020F0704030504030204" pitchFamily="34" charset="0"/>
                  <a:cs typeface="Aharoni" panose="02010803020104030203" pitchFamily="2" charset="-79"/>
                </a:rPr>
                <a:t>AULA 1</a:t>
              </a:r>
            </a:p>
          </p:txBody>
        </p:sp>
      </p:grpSp>
      <p:pic>
        <p:nvPicPr>
          <p:cNvPr id="40" name="Picture 20" descr="Sala de aula - ícones de pessoas grátis">
            <a:extLst>
              <a:ext uri="{FF2B5EF4-FFF2-40B4-BE49-F238E27FC236}">
                <a16:creationId xmlns:a16="http://schemas.microsoft.com/office/drawing/2014/main" id="{B0FDD902-B2B6-4E9F-A018-2422ED237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823" y="248871"/>
            <a:ext cx="846228" cy="846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9668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Agrupar 31">
            <a:extLst>
              <a:ext uri="{FF2B5EF4-FFF2-40B4-BE49-F238E27FC236}">
                <a16:creationId xmlns:a16="http://schemas.microsoft.com/office/drawing/2014/main" id="{EF8E78D7-C412-46C5-9169-D798BB0E124A}"/>
              </a:ext>
            </a:extLst>
          </p:cNvPr>
          <p:cNvGrpSpPr/>
          <p:nvPr/>
        </p:nvGrpSpPr>
        <p:grpSpPr>
          <a:xfrm>
            <a:off x="301157" y="1801138"/>
            <a:ext cx="4249752" cy="4829264"/>
            <a:chOff x="187746" y="1877438"/>
            <a:chExt cx="4249752" cy="4829264"/>
          </a:xfrm>
        </p:grpSpPr>
        <p:pic>
          <p:nvPicPr>
            <p:cNvPr id="33" name="Picture 12" descr="papel de nota branco 11287526 PNG">
              <a:extLst>
                <a:ext uri="{FF2B5EF4-FFF2-40B4-BE49-F238E27FC236}">
                  <a16:creationId xmlns:a16="http://schemas.microsoft.com/office/drawing/2014/main" id="{D79F2B07-948C-413D-89C6-5509AC33A5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746" y="1877438"/>
              <a:ext cx="4249752" cy="4829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79ED3BF-6C0E-4838-8022-6614C7CF7B3A}"/>
                </a:ext>
              </a:extLst>
            </p:cNvPr>
            <p:cNvSpPr txBox="1"/>
            <p:nvPr/>
          </p:nvSpPr>
          <p:spPr>
            <a:xfrm>
              <a:off x="590671" y="2999018"/>
              <a:ext cx="3453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</a:rPr>
                <a:t>1. Explorar os arquivos do site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738EE7F6-5C3B-4E0A-A647-45712644E07E}"/>
                </a:ext>
              </a:extLst>
            </p:cNvPr>
            <p:cNvSpPr txBox="1"/>
            <p:nvPr/>
          </p:nvSpPr>
          <p:spPr>
            <a:xfrm>
              <a:off x="590671" y="3489651"/>
              <a:ext cx="3453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</a:rPr>
                <a:t>2. Game Manual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1C8D7DB1-B2BB-4629-83ED-011B2143971B}"/>
                </a:ext>
              </a:extLst>
            </p:cNvPr>
            <p:cNvSpPr txBox="1"/>
            <p:nvPr/>
          </p:nvSpPr>
          <p:spPr>
            <a:xfrm>
              <a:off x="585846" y="4099676"/>
              <a:ext cx="3453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</a:rPr>
                <a:t>2.1. Arena</a:t>
              </a: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7FCAC4F9-A997-4319-B2DE-120ECD014173}"/>
                </a:ext>
              </a:extLst>
            </p:cNvPr>
            <p:cNvSpPr txBox="1"/>
            <p:nvPr/>
          </p:nvSpPr>
          <p:spPr>
            <a:xfrm>
              <a:off x="585845" y="4627954"/>
              <a:ext cx="3453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</a:rPr>
                <a:t>2.2. Point </a:t>
              </a:r>
              <a:r>
                <a:rPr lang="pt-BR" dirty="0" err="1">
                  <a:solidFill>
                    <a:schemeClr val="bg1"/>
                  </a:solidFill>
                </a:rPr>
                <a:t>Values</a:t>
              </a:r>
              <a:endParaRPr lang="pt-BR" dirty="0">
                <a:solidFill>
                  <a:schemeClr val="bg1"/>
                </a:solidFill>
              </a:endParaRP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DD53021C-0EEF-4DE0-90DB-DE575EA79F11}"/>
                </a:ext>
              </a:extLst>
            </p:cNvPr>
            <p:cNvSpPr txBox="1"/>
            <p:nvPr/>
          </p:nvSpPr>
          <p:spPr>
            <a:xfrm>
              <a:off x="585845" y="5140865"/>
              <a:ext cx="3453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</a:rPr>
                <a:t>2.3. Game </a:t>
              </a:r>
              <a:r>
                <a:rPr lang="pt-BR" dirty="0" err="1">
                  <a:solidFill>
                    <a:schemeClr val="bg1"/>
                  </a:solidFill>
                </a:rPr>
                <a:t>Rules</a:t>
              </a:r>
              <a:endParaRPr lang="pt-BR" dirty="0">
                <a:solidFill>
                  <a:schemeClr val="bg1"/>
                </a:solidFill>
              </a:endParaRPr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B0D7EAF5-C3F9-492F-97E4-D690F426EE50}"/>
                </a:ext>
              </a:extLst>
            </p:cNvPr>
            <p:cNvSpPr txBox="1"/>
            <p:nvPr/>
          </p:nvSpPr>
          <p:spPr>
            <a:xfrm>
              <a:off x="585845" y="5721706"/>
              <a:ext cx="36198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</a:rPr>
                <a:t>2.4. ROBOT </a:t>
              </a:r>
              <a:r>
                <a:rPr lang="pt-BR" dirty="0" err="1">
                  <a:solidFill>
                    <a:schemeClr val="bg1"/>
                  </a:solidFill>
                </a:rPr>
                <a:t>Construction</a:t>
              </a:r>
              <a:r>
                <a:rPr lang="pt-BR" dirty="0">
                  <a:solidFill>
                    <a:schemeClr val="bg1"/>
                  </a:solidFill>
                </a:rPr>
                <a:t> </a:t>
              </a:r>
              <a:r>
                <a:rPr lang="pt-BR" dirty="0" err="1">
                  <a:solidFill>
                    <a:schemeClr val="bg1"/>
                  </a:solidFill>
                </a:rPr>
                <a:t>Rules</a:t>
              </a:r>
              <a:endParaRPr lang="pt-BR" dirty="0">
                <a:solidFill>
                  <a:schemeClr val="bg1"/>
                </a:solidFill>
              </a:endParaRPr>
            </a:p>
          </p:txBody>
        </p:sp>
      </p:grpSp>
      <p:pic>
        <p:nvPicPr>
          <p:cNvPr id="12" name="Picture 4" descr="FIRST Brand and Logo Files | FIRST">
            <a:extLst>
              <a:ext uri="{FF2B5EF4-FFF2-40B4-BE49-F238E27FC236}">
                <a16:creationId xmlns:a16="http://schemas.microsoft.com/office/drawing/2014/main" id="{BF6A2643-6B79-F356-21C8-CE85AC8A3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719"/>
            <a:ext cx="211455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C1E44025-BACB-4B78-8F2E-8794E4ACA1C1}"/>
              </a:ext>
            </a:extLst>
          </p:cNvPr>
          <p:cNvSpPr/>
          <p:nvPr/>
        </p:nvSpPr>
        <p:spPr>
          <a:xfrm>
            <a:off x="2114549" y="58368"/>
            <a:ext cx="6842135" cy="1245140"/>
          </a:xfrm>
          <a:prstGeom prst="rightArrow">
            <a:avLst>
              <a:gd name="adj1" fmla="val 50000"/>
              <a:gd name="adj2" fmla="val 86274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KICK OFF &amp; DOCUMENTAÇÃO</a:t>
            </a:r>
          </a:p>
        </p:txBody>
      </p:sp>
      <p:pic>
        <p:nvPicPr>
          <p:cNvPr id="23" name="Picture 4" descr="Youtube - ícones de mídia social grátis">
            <a:hlinkClick r:id="rId4"/>
            <a:extLst>
              <a:ext uri="{FF2B5EF4-FFF2-40B4-BE49-F238E27FC236}">
                <a16:creationId xmlns:a16="http://schemas.microsoft.com/office/drawing/2014/main" id="{4157B73C-B164-4B55-8844-654D49076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6455" y="1961865"/>
            <a:ext cx="1562446" cy="1562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Agrupar 10">
            <a:extLst>
              <a:ext uri="{FF2B5EF4-FFF2-40B4-BE49-F238E27FC236}">
                <a16:creationId xmlns:a16="http://schemas.microsoft.com/office/drawing/2014/main" id="{C0798424-8F87-4E83-8542-A656AA86D7FE}"/>
              </a:ext>
            </a:extLst>
          </p:cNvPr>
          <p:cNvGrpSpPr/>
          <p:nvPr/>
        </p:nvGrpSpPr>
        <p:grpSpPr>
          <a:xfrm>
            <a:off x="7354110" y="1303508"/>
            <a:ext cx="2110903" cy="2110903"/>
            <a:chOff x="9066178" y="2173439"/>
            <a:chExt cx="2110903" cy="2110903"/>
          </a:xfrm>
        </p:grpSpPr>
        <p:pic>
          <p:nvPicPr>
            <p:cNvPr id="3078" name="Picture 6" descr="Documentação - ícones de negócios e finanças grátis">
              <a:hlinkClick r:id="rId6"/>
              <a:extLst>
                <a:ext uri="{FF2B5EF4-FFF2-40B4-BE49-F238E27FC236}">
                  <a16:creationId xmlns:a16="http://schemas.microsoft.com/office/drawing/2014/main" id="{AEC402AA-1BAD-4415-9A78-2FBD183083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66178" y="2173439"/>
              <a:ext cx="2110903" cy="21109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4" descr="FIRST Brand and Logo Files | FIRST">
              <a:extLst>
                <a:ext uri="{FF2B5EF4-FFF2-40B4-BE49-F238E27FC236}">
                  <a16:creationId xmlns:a16="http://schemas.microsoft.com/office/drawing/2014/main" id="{42C0E1E8-2FF1-4D56-8897-FE7EEB1962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67154" y="3391390"/>
              <a:ext cx="616085" cy="388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0" name="Picture 16" descr="Lista de tarefas - ícones de arquivos e pastas grátis">
            <a:extLst>
              <a:ext uri="{FF2B5EF4-FFF2-40B4-BE49-F238E27FC236}">
                <a16:creationId xmlns:a16="http://schemas.microsoft.com/office/drawing/2014/main" id="{BC9A7F21-39B9-49E4-9654-ACB3319F7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315" y="4600294"/>
            <a:ext cx="1674779" cy="1674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CaixaDeTexto 40">
            <a:extLst>
              <a:ext uri="{FF2B5EF4-FFF2-40B4-BE49-F238E27FC236}">
                <a16:creationId xmlns:a16="http://schemas.microsoft.com/office/drawing/2014/main" id="{5FB133E9-99B1-4569-8B7D-72344795439D}"/>
              </a:ext>
            </a:extLst>
          </p:cNvPr>
          <p:cNvSpPr txBox="1"/>
          <p:nvPr/>
        </p:nvSpPr>
        <p:spPr>
          <a:xfrm>
            <a:off x="6037801" y="4699019"/>
            <a:ext cx="3730648" cy="1477328"/>
          </a:xfrm>
          <a:custGeom>
            <a:avLst/>
            <a:gdLst>
              <a:gd name="connsiteX0" fmla="*/ 0 w 3730648"/>
              <a:gd name="connsiteY0" fmla="*/ 0 h 1477328"/>
              <a:gd name="connsiteX1" fmla="*/ 659081 w 3730648"/>
              <a:gd name="connsiteY1" fmla="*/ 0 h 1477328"/>
              <a:gd name="connsiteX2" fmla="*/ 1280856 w 3730648"/>
              <a:gd name="connsiteY2" fmla="*/ 0 h 1477328"/>
              <a:gd name="connsiteX3" fmla="*/ 1865324 w 3730648"/>
              <a:gd name="connsiteY3" fmla="*/ 0 h 1477328"/>
              <a:gd name="connsiteX4" fmla="*/ 2375179 w 3730648"/>
              <a:gd name="connsiteY4" fmla="*/ 0 h 1477328"/>
              <a:gd name="connsiteX5" fmla="*/ 2922341 w 3730648"/>
              <a:gd name="connsiteY5" fmla="*/ 0 h 1477328"/>
              <a:gd name="connsiteX6" fmla="*/ 3730648 w 3730648"/>
              <a:gd name="connsiteY6" fmla="*/ 0 h 1477328"/>
              <a:gd name="connsiteX7" fmla="*/ 3730648 w 3730648"/>
              <a:gd name="connsiteY7" fmla="*/ 492443 h 1477328"/>
              <a:gd name="connsiteX8" fmla="*/ 3730648 w 3730648"/>
              <a:gd name="connsiteY8" fmla="*/ 1014432 h 1477328"/>
              <a:gd name="connsiteX9" fmla="*/ 3730648 w 3730648"/>
              <a:gd name="connsiteY9" fmla="*/ 1477328 h 1477328"/>
              <a:gd name="connsiteX10" fmla="*/ 3183486 w 3730648"/>
              <a:gd name="connsiteY10" fmla="*/ 1477328 h 1477328"/>
              <a:gd name="connsiteX11" fmla="*/ 2487099 w 3730648"/>
              <a:gd name="connsiteY11" fmla="*/ 1477328 h 1477328"/>
              <a:gd name="connsiteX12" fmla="*/ 1828018 w 3730648"/>
              <a:gd name="connsiteY12" fmla="*/ 1477328 h 1477328"/>
              <a:gd name="connsiteX13" fmla="*/ 1168936 w 3730648"/>
              <a:gd name="connsiteY13" fmla="*/ 1477328 h 1477328"/>
              <a:gd name="connsiteX14" fmla="*/ 621775 w 3730648"/>
              <a:gd name="connsiteY14" fmla="*/ 1477328 h 1477328"/>
              <a:gd name="connsiteX15" fmla="*/ 0 w 3730648"/>
              <a:gd name="connsiteY15" fmla="*/ 1477328 h 1477328"/>
              <a:gd name="connsiteX16" fmla="*/ 0 w 3730648"/>
              <a:gd name="connsiteY16" fmla="*/ 999659 h 1477328"/>
              <a:gd name="connsiteX17" fmla="*/ 0 w 3730648"/>
              <a:gd name="connsiteY17" fmla="*/ 507216 h 1477328"/>
              <a:gd name="connsiteX18" fmla="*/ 0 w 3730648"/>
              <a:gd name="connsiteY18" fmla="*/ 0 h 1477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730648" h="1477328" extrusionOk="0">
                <a:moveTo>
                  <a:pt x="0" y="0"/>
                </a:moveTo>
                <a:cubicBezTo>
                  <a:pt x="283956" y="16276"/>
                  <a:pt x="465258" y="5961"/>
                  <a:pt x="659081" y="0"/>
                </a:cubicBezTo>
                <a:cubicBezTo>
                  <a:pt x="852904" y="-5961"/>
                  <a:pt x="983345" y="27532"/>
                  <a:pt x="1280856" y="0"/>
                </a:cubicBezTo>
                <a:cubicBezTo>
                  <a:pt x="1578368" y="-27532"/>
                  <a:pt x="1598240" y="26777"/>
                  <a:pt x="1865324" y="0"/>
                </a:cubicBezTo>
                <a:cubicBezTo>
                  <a:pt x="2132408" y="-26777"/>
                  <a:pt x="2133765" y="-13110"/>
                  <a:pt x="2375179" y="0"/>
                </a:cubicBezTo>
                <a:cubicBezTo>
                  <a:pt x="2616594" y="13110"/>
                  <a:pt x="2690581" y="3282"/>
                  <a:pt x="2922341" y="0"/>
                </a:cubicBezTo>
                <a:cubicBezTo>
                  <a:pt x="3154101" y="-3282"/>
                  <a:pt x="3531990" y="-17482"/>
                  <a:pt x="3730648" y="0"/>
                </a:cubicBezTo>
                <a:cubicBezTo>
                  <a:pt x="3730215" y="245590"/>
                  <a:pt x="3734731" y="373558"/>
                  <a:pt x="3730648" y="492443"/>
                </a:cubicBezTo>
                <a:cubicBezTo>
                  <a:pt x="3726565" y="611328"/>
                  <a:pt x="3717579" y="815510"/>
                  <a:pt x="3730648" y="1014432"/>
                </a:cubicBezTo>
                <a:cubicBezTo>
                  <a:pt x="3743717" y="1213354"/>
                  <a:pt x="3737200" y="1273559"/>
                  <a:pt x="3730648" y="1477328"/>
                </a:cubicBezTo>
                <a:cubicBezTo>
                  <a:pt x="3527395" y="1490862"/>
                  <a:pt x="3397789" y="1463365"/>
                  <a:pt x="3183486" y="1477328"/>
                </a:cubicBezTo>
                <a:cubicBezTo>
                  <a:pt x="2969183" y="1491291"/>
                  <a:pt x="2783772" y="1460794"/>
                  <a:pt x="2487099" y="1477328"/>
                </a:cubicBezTo>
                <a:cubicBezTo>
                  <a:pt x="2190426" y="1493862"/>
                  <a:pt x="1970219" y="1451111"/>
                  <a:pt x="1828018" y="1477328"/>
                </a:cubicBezTo>
                <a:cubicBezTo>
                  <a:pt x="1685817" y="1503545"/>
                  <a:pt x="1418564" y="1483622"/>
                  <a:pt x="1168936" y="1477328"/>
                </a:cubicBezTo>
                <a:cubicBezTo>
                  <a:pt x="919308" y="1471034"/>
                  <a:pt x="836374" y="1487518"/>
                  <a:pt x="621775" y="1477328"/>
                </a:cubicBezTo>
                <a:cubicBezTo>
                  <a:pt x="407176" y="1467138"/>
                  <a:pt x="289280" y="1463392"/>
                  <a:pt x="0" y="1477328"/>
                </a:cubicBezTo>
                <a:cubicBezTo>
                  <a:pt x="8144" y="1309924"/>
                  <a:pt x="-22920" y="1136678"/>
                  <a:pt x="0" y="999659"/>
                </a:cubicBezTo>
                <a:cubicBezTo>
                  <a:pt x="22920" y="862640"/>
                  <a:pt x="17069" y="700225"/>
                  <a:pt x="0" y="507216"/>
                </a:cubicBezTo>
                <a:cubicBezTo>
                  <a:pt x="-17069" y="314207"/>
                  <a:pt x="-15157" y="186118"/>
                  <a:pt x="0" y="0"/>
                </a:cubicBezTo>
                <a:close/>
              </a:path>
            </a:pathLst>
          </a:custGeom>
          <a:noFill/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98069433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just"/>
            <a:r>
              <a:rPr lang="pt-BR" b="1" i="1" u="sng" dirty="0"/>
              <a:t>Tarefa – Sala de aula invertida:</a:t>
            </a:r>
          </a:p>
          <a:p>
            <a:pPr algn="just"/>
            <a:r>
              <a:rPr lang="pt-BR" dirty="0"/>
              <a:t>Separar grupos para apresentar os temas 2.1, 2.2, 2.3 e 2.4 (Resumo de informações pertinentes)</a:t>
            </a:r>
          </a:p>
        </p:txBody>
      </p:sp>
      <p:pic>
        <p:nvPicPr>
          <p:cNvPr id="44" name="Picture 10" descr="Clicando - ícones de gestos grátis">
            <a:extLst>
              <a:ext uri="{FF2B5EF4-FFF2-40B4-BE49-F238E27FC236}">
                <a16:creationId xmlns:a16="http://schemas.microsoft.com/office/drawing/2014/main" id="{D38884BE-0E5C-4A68-9B9A-BFD8A1124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856" y="2897264"/>
            <a:ext cx="1143397" cy="1143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10" descr="Clicando - ícones de gestos grátis">
            <a:extLst>
              <a:ext uri="{FF2B5EF4-FFF2-40B4-BE49-F238E27FC236}">
                <a16:creationId xmlns:a16="http://schemas.microsoft.com/office/drawing/2014/main" id="{2380685C-98BB-419C-A1DE-836CFC180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152" y="2857441"/>
            <a:ext cx="1143397" cy="1143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Football field - Free sports icons">
            <a:hlinkClick r:id="rId11"/>
            <a:extLst>
              <a:ext uri="{FF2B5EF4-FFF2-40B4-BE49-F238E27FC236}">
                <a16:creationId xmlns:a16="http://schemas.microsoft.com/office/drawing/2014/main" id="{F20FF10B-3465-4922-AA6E-9E38FB427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6070" y="2137978"/>
            <a:ext cx="1438926" cy="1438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10" descr="Clicando - ícones de gestos grátis">
            <a:extLst>
              <a:ext uri="{FF2B5EF4-FFF2-40B4-BE49-F238E27FC236}">
                <a16:creationId xmlns:a16="http://schemas.microsoft.com/office/drawing/2014/main" id="{580DE62A-8FD4-4D91-A6F8-A728563F5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8213" y="2890292"/>
            <a:ext cx="1143397" cy="1143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Retângulo 48">
            <a:extLst>
              <a:ext uri="{FF2B5EF4-FFF2-40B4-BE49-F238E27FC236}">
                <a16:creationId xmlns:a16="http://schemas.microsoft.com/office/drawing/2014/main" id="{207E9D58-FBB2-421D-95A1-D419A6A3DB2E}"/>
              </a:ext>
            </a:extLst>
          </p:cNvPr>
          <p:cNvSpPr/>
          <p:nvPr/>
        </p:nvSpPr>
        <p:spPr>
          <a:xfrm flipH="1">
            <a:off x="-38912" y="6600935"/>
            <a:ext cx="1235413" cy="173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157C122B-0D0E-4523-946C-37ED7112BF83}"/>
              </a:ext>
            </a:extLst>
          </p:cNvPr>
          <p:cNvGrpSpPr/>
          <p:nvPr/>
        </p:nvGrpSpPr>
        <p:grpSpPr>
          <a:xfrm>
            <a:off x="8956684" y="132080"/>
            <a:ext cx="3143876" cy="1103333"/>
            <a:chOff x="8956684" y="132080"/>
            <a:chExt cx="3143876" cy="1103333"/>
          </a:xfrm>
        </p:grpSpPr>
        <p:sp>
          <p:nvSpPr>
            <p:cNvPr id="51" name="Retângulo 50">
              <a:extLst>
                <a:ext uri="{FF2B5EF4-FFF2-40B4-BE49-F238E27FC236}">
                  <a16:creationId xmlns:a16="http://schemas.microsoft.com/office/drawing/2014/main" id="{3C32D393-9912-4D99-825D-295A76FE8479}"/>
                </a:ext>
              </a:extLst>
            </p:cNvPr>
            <p:cNvSpPr/>
            <p:nvPr/>
          </p:nvSpPr>
          <p:spPr>
            <a:xfrm>
              <a:off x="9007810" y="132080"/>
              <a:ext cx="3092750" cy="11033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52" name="Agrupar 51">
              <a:extLst>
                <a:ext uri="{FF2B5EF4-FFF2-40B4-BE49-F238E27FC236}">
                  <a16:creationId xmlns:a16="http://schemas.microsoft.com/office/drawing/2014/main" id="{90402151-83B7-4047-948B-58F7EC7D4EE4}"/>
                </a:ext>
              </a:extLst>
            </p:cNvPr>
            <p:cNvGrpSpPr/>
            <p:nvPr/>
          </p:nvGrpSpPr>
          <p:grpSpPr>
            <a:xfrm>
              <a:off x="8956684" y="248871"/>
              <a:ext cx="3062367" cy="846228"/>
              <a:chOff x="8956684" y="248871"/>
              <a:chExt cx="3062367" cy="846228"/>
            </a:xfrm>
          </p:grpSpPr>
          <p:pic>
            <p:nvPicPr>
              <p:cNvPr id="53" name="Picture 20" descr="Sala de aula - ícones de pessoas grátis">
                <a:extLst>
                  <a:ext uri="{FF2B5EF4-FFF2-40B4-BE49-F238E27FC236}">
                    <a16:creationId xmlns:a16="http://schemas.microsoft.com/office/drawing/2014/main" id="{011DEA52-43FE-4B71-8E3A-4FE7AEB61E0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72823" y="248871"/>
                <a:ext cx="846228" cy="84622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4638509C-4BFC-4794-AF6D-348B3C780BDF}"/>
                  </a:ext>
                </a:extLst>
              </p:cNvPr>
              <p:cNvSpPr txBox="1"/>
              <p:nvPr/>
            </p:nvSpPr>
            <p:spPr>
              <a:xfrm>
                <a:off x="8956684" y="295177"/>
                <a:ext cx="220536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4400" b="1" dirty="0">
                    <a:latin typeface="Arial Rounded MT Bold" panose="020F0704030504030204" pitchFamily="34" charset="0"/>
                    <a:cs typeface="Aharoni" panose="02010803020104030203" pitchFamily="2" charset="-79"/>
                  </a:rPr>
                  <a:t>AULA 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71465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FIRST Brand and Logo Files | FIRST">
            <a:extLst>
              <a:ext uri="{FF2B5EF4-FFF2-40B4-BE49-F238E27FC236}">
                <a16:creationId xmlns:a16="http://schemas.microsoft.com/office/drawing/2014/main" id="{BF6A2643-6B79-F356-21C8-CE85AC8A3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719"/>
            <a:ext cx="211455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Seta: para a Direita 15">
            <a:extLst>
              <a:ext uri="{FF2B5EF4-FFF2-40B4-BE49-F238E27FC236}">
                <a16:creationId xmlns:a16="http://schemas.microsoft.com/office/drawing/2014/main" id="{B5219B27-424F-452F-B860-001B6582CC09}"/>
              </a:ext>
            </a:extLst>
          </p:cNvPr>
          <p:cNvSpPr/>
          <p:nvPr/>
        </p:nvSpPr>
        <p:spPr>
          <a:xfrm>
            <a:off x="2114549" y="58368"/>
            <a:ext cx="6842135" cy="1245140"/>
          </a:xfrm>
          <a:prstGeom prst="rightArrow">
            <a:avLst>
              <a:gd name="adj1" fmla="val 50000"/>
              <a:gd name="adj2" fmla="val 86274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EQUIPE &amp; AWARDS</a:t>
            </a:r>
          </a:p>
        </p:txBody>
      </p:sp>
      <p:pic>
        <p:nvPicPr>
          <p:cNvPr id="4098" name="Picture 2" descr="Prêmio - ícones de esportes e competição grátis">
            <a:hlinkClick r:id="rId3"/>
            <a:extLst>
              <a:ext uri="{FF2B5EF4-FFF2-40B4-BE49-F238E27FC236}">
                <a16:creationId xmlns:a16="http://schemas.microsoft.com/office/drawing/2014/main" id="{6FC09FD9-77B5-44C4-AD72-3F9DC95CE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0768" y="2489639"/>
            <a:ext cx="1868993" cy="1868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Agrupar 16">
            <a:extLst>
              <a:ext uri="{FF2B5EF4-FFF2-40B4-BE49-F238E27FC236}">
                <a16:creationId xmlns:a16="http://schemas.microsoft.com/office/drawing/2014/main" id="{35286C52-1094-424A-A374-F69F745981DC}"/>
              </a:ext>
            </a:extLst>
          </p:cNvPr>
          <p:cNvGrpSpPr/>
          <p:nvPr/>
        </p:nvGrpSpPr>
        <p:grpSpPr>
          <a:xfrm>
            <a:off x="301164" y="1801141"/>
            <a:ext cx="4249752" cy="4829264"/>
            <a:chOff x="187746" y="1877438"/>
            <a:chExt cx="4249752" cy="4829264"/>
          </a:xfrm>
        </p:grpSpPr>
        <p:pic>
          <p:nvPicPr>
            <p:cNvPr id="18" name="Picture 12" descr="papel de nota branco 11287526 PNG">
              <a:extLst>
                <a:ext uri="{FF2B5EF4-FFF2-40B4-BE49-F238E27FC236}">
                  <a16:creationId xmlns:a16="http://schemas.microsoft.com/office/drawing/2014/main" id="{C6DA3FB1-C783-4960-92E3-7BF6E422B8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746" y="1877438"/>
              <a:ext cx="4249752" cy="4829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7AA38699-0BC6-4F1C-953A-EF1188ECB28C}"/>
                </a:ext>
              </a:extLst>
            </p:cNvPr>
            <p:cNvSpPr txBox="1"/>
            <p:nvPr/>
          </p:nvSpPr>
          <p:spPr>
            <a:xfrm>
              <a:off x="590671" y="2999018"/>
              <a:ext cx="3453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</a:rPr>
                <a:t>1. Explicar as áreas e oque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67134F50-4AE6-4FFC-8341-DAC1DD0F1A0D}"/>
                </a:ext>
              </a:extLst>
            </p:cNvPr>
            <p:cNvSpPr txBox="1"/>
            <p:nvPr/>
          </p:nvSpPr>
          <p:spPr>
            <a:xfrm>
              <a:off x="590671" y="3489651"/>
              <a:ext cx="3614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</a:rPr>
                <a:t>cada área faz dentro do time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DEEC45B5-5A4C-46A4-A8AC-AF9DE8CA24D9}"/>
                </a:ext>
              </a:extLst>
            </p:cNvPr>
            <p:cNvSpPr txBox="1"/>
            <p:nvPr/>
          </p:nvSpPr>
          <p:spPr>
            <a:xfrm>
              <a:off x="585846" y="4099676"/>
              <a:ext cx="3453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</a:rPr>
                <a:t>1.1. Realizar pré seleção do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6BA47FCE-E99A-4376-AF97-AF780088F48C}"/>
                </a:ext>
              </a:extLst>
            </p:cNvPr>
            <p:cNvSpPr txBox="1"/>
            <p:nvPr/>
          </p:nvSpPr>
          <p:spPr>
            <a:xfrm>
              <a:off x="585845" y="4627954"/>
              <a:ext cx="3453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</a:rPr>
                <a:t>Lider do time.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15A75451-25F0-4B76-8324-B02DDF51C4F2}"/>
                </a:ext>
              </a:extLst>
            </p:cNvPr>
            <p:cNvSpPr txBox="1"/>
            <p:nvPr/>
          </p:nvSpPr>
          <p:spPr>
            <a:xfrm>
              <a:off x="585845" y="5140865"/>
              <a:ext cx="3614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</a:rPr>
                <a:t>1.2. Pré separação das áreas</a:t>
              </a: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354B323C-D675-4540-9CDD-BBC01292CF43}"/>
                </a:ext>
              </a:extLst>
            </p:cNvPr>
            <p:cNvSpPr txBox="1"/>
            <p:nvPr/>
          </p:nvSpPr>
          <p:spPr>
            <a:xfrm>
              <a:off x="585845" y="5721706"/>
              <a:ext cx="36198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</a:rPr>
                <a:t>2. Estudo dos prémios da FRC</a:t>
              </a:r>
            </a:p>
          </p:txBody>
        </p:sp>
      </p:grpSp>
      <p:pic>
        <p:nvPicPr>
          <p:cNvPr id="25" name="Picture 10" descr="Clicando - ícones de gestos grátis">
            <a:extLst>
              <a:ext uri="{FF2B5EF4-FFF2-40B4-BE49-F238E27FC236}">
                <a16:creationId xmlns:a16="http://schemas.microsoft.com/office/drawing/2014/main" id="{07B947A6-BB57-44F7-8C3A-D40DA30B5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3375" y="3442702"/>
            <a:ext cx="1143397" cy="1143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16" descr="Lista de tarefas - ícones de arquivos e pastas grátis">
            <a:extLst>
              <a:ext uri="{FF2B5EF4-FFF2-40B4-BE49-F238E27FC236}">
                <a16:creationId xmlns:a16="http://schemas.microsoft.com/office/drawing/2014/main" id="{8E5E6EB9-C985-44C7-ACF0-348333A04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315" y="4600294"/>
            <a:ext cx="1674779" cy="1674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7BC8F3E2-0FCD-4FE2-A4DF-9ED5CB1B3E3A}"/>
              </a:ext>
            </a:extLst>
          </p:cNvPr>
          <p:cNvSpPr txBox="1"/>
          <p:nvPr/>
        </p:nvSpPr>
        <p:spPr>
          <a:xfrm>
            <a:off x="6037801" y="4861579"/>
            <a:ext cx="3730648" cy="1200329"/>
          </a:xfrm>
          <a:custGeom>
            <a:avLst/>
            <a:gdLst>
              <a:gd name="connsiteX0" fmla="*/ 0 w 3730648"/>
              <a:gd name="connsiteY0" fmla="*/ 0 h 1200329"/>
              <a:gd name="connsiteX1" fmla="*/ 659081 w 3730648"/>
              <a:gd name="connsiteY1" fmla="*/ 0 h 1200329"/>
              <a:gd name="connsiteX2" fmla="*/ 1280856 w 3730648"/>
              <a:gd name="connsiteY2" fmla="*/ 0 h 1200329"/>
              <a:gd name="connsiteX3" fmla="*/ 1865324 w 3730648"/>
              <a:gd name="connsiteY3" fmla="*/ 0 h 1200329"/>
              <a:gd name="connsiteX4" fmla="*/ 2375179 w 3730648"/>
              <a:gd name="connsiteY4" fmla="*/ 0 h 1200329"/>
              <a:gd name="connsiteX5" fmla="*/ 2922341 w 3730648"/>
              <a:gd name="connsiteY5" fmla="*/ 0 h 1200329"/>
              <a:gd name="connsiteX6" fmla="*/ 3730648 w 3730648"/>
              <a:gd name="connsiteY6" fmla="*/ 0 h 1200329"/>
              <a:gd name="connsiteX7" fmla="*/ 3730648 w 3730648"/>
              <a:gd name="connsiteY7" fmla="*/ 600165 h 1200329"/>
              <a:gd name="connsiteX8" fmla="*/ 3730648 w 3730648"/>
              <a:gd name="connsiteY8" fmla="*/ 1200329 h 1200329"/>
              <a:gd name="connsiteX9" fmla="*/ 3071567 w 3730648"/>
              <a:gd name="connsiteY9" fmla="*/ 1200329 h 1200329"/>
              <a:gd name="connsiteX10" fmla="*/ 2412486 w 3730648"/>
              <a:gd name="connsiteY10" fmla="*/ 1200329 h 1200329"/>
              <a:gd name="connsiteX11" fmla="*/ 1716098 w 3730648"/>
              <a:gd name="connsiteY11" fmla="*/ 1200329 h 1200329"/>
              <a:gd name="connsiteX12" fmla="*/ 1057017 w 3730648"/>
              <a:gd name="connsiteY12" fmla="*/ 1200329 h 1200329"/>
              <a:gd name="connsiteX13" fmla="*/ 0 w 3730648"/>
              <a:gd name="connsiteY13" fmla="*/ 1200329 h 1200329"/>
              <a:gd name="connsiteX14" fmla="*/ 0 w 3730648"/>
              <a:gd name="connsiteY14" fmla="*/ 624171 h 1200329"/>
              <a:gd name="connsiteX15" fmla="*/ 0 w 3730648"/>
              <a:gd name="connsiteY15" fmla="*/ 0 h 1200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730648" h="1200329" extrusionOk="0">
                <a:moveTo>
                  <a:pt x="0" y="0"/>
                </a:moveTo>
                <a:cubicBezTo>
                  <a:pt x="283956" y="16276"/>
                  <a:pt x="465258" y="5961"/>
                  <a:pt x="659081" y="0"/>
                </a:cubicBezTo>
                <a:cubicBezTo>
                  <a:pt x="852904" y="-5961"/>
                  <a:pt x="983345" y="27532"/>
                  <a:pt x="1280856" y="0"/>
                </a:cubicBezTo>
                <a:cubicBezTo>
                  <a:pt x="1578368" y="-27532"/>
                  <a:pt x="1598240" y="26777"/>
                  <a:pt x="1865324" y="0"/>
                </a:cubicBezTo>
                <a:cubicBezTo>
                  <a:pt x="2132408" y="-26777"/>
                  <a:pt x="2133765" y="-13110"/>
                  <a:pt x="2375179" y="0"/>
                </a:cubicBezTo>
                <a:cubicBezTo>
                  <a:pt x="2616594" y="13110"/>
                  <a:pt x="2690581" y="3282"/>
                  <a:pt x="2922341" y="0"/>
                </a:cubicBezTo>
                <a:cubicBezTo>
                  <a:pt x="3154101" y="-3282"/>
                  <a:pt x="3531990" y="-17482"/>
                  <a:pt x="3730648" y="0"/>
                </a:cubicBezTo>
                <a:cubicBezTo>
                  <a:pt x="3731194" y="299824"/>
                  <a:pt x="3703617" y="429487"/>
                  <a:pt x="3730648" y="600165"/>
                </a:cubicBezTo>
                <a:cubicBezTo>
                  <a:pt x="3757679" y="770844"/>
                  <a:pt x="3712888" y="1039841"/>
                  <a:pt x="3730648" y="1200329"/>
                </a:cubicBezTo>
                <a:cubicBezTo>
                  <a:pt x="3504959" y="1179337"/>
                  <a:pt x="3341324" y="1217697"/>
                  <a:pt x="3071567" y="1200329"/>
                </a:cubicBezTo>
                <a:cubicBezTo>
                  <a:pt x="2801810" y="1182961"/>
                  <a:pt x="2721442" y="1201939"/>
                  <a:pt x="2412486" y="1200329"/>
                </a:cubicBezTo>
                <a:cubicBezTo>
                  <a:pt x="2103530" y="1198719"/>
                  <a:pt x="2015302" y="1189739"/>
                  <a:pt x="1716098" y="1200329"/>
                </a:cubicBezTo>
                <a:cubicBezTo>
                  <a:pt x="1416894" y="1210919"/>
                  <a:pt x="1199218" y="1174112"/>
                  <a:pt x="1057017" y="1200329"/>
                </a:cubicBezTo>
                <a:cubicBezTo>
                  <a:pt x="914816" y="1226546"/>
                  <a:pt x="288342" y="1180854"/>
                  <a:pt x="0" y="1200329"/>
                </a:cubicBezTo>
                <a:cubicBezTo>
                  <a:pt x="15741" y="914489"/>
                  <a:pt x="-1650" y="882903"/>
                  <a:pt x="0" y="624171"/>
                </a:cubicBezTo>
                <a:cubicBezTo>
                  <a:pt x="1650" y="365439"/>
                  <a:pt x="18167" y="193190"/>
                  <a:pt x="0" y="0"/>
                </a:cubicBezTo>
                <a:close/>
              </a:path>
            </a:pathLst>
          </a:custGeom>
          <a:noFill/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98069433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just"/>
            <a:r>
              <a:rPr lang="pt-BR" b="1" i="1" u="sng" dirty="0"/>
              <a:t>Tarefa – Sala de aula invertida:</a:t>
            </a:r>
          </a:p>
          <a:p>
            <a:pPr algn="just"/>
            <a:r>
              <a:rPr lang="pt-BR" dirty="0"/>
              <a:t>Separar 5 grupos para apresentação de todos os prémios da FRC.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6C742A8F-E1D4-44C9-9D7C-65EE2A1B439A}"/>
              </a:ext>
            </a:extLst>
          </p:cNvPr>
          <p:cNvGrpSpPr/>
          <p:nvPr/>
        </p:nvGrpSpPr>
        <p:grpSpPr>
          <a:xfrm>
            <a:off x="8956684" y="132080"/>
            <a:ext cx="3143876" cy="1103333"/>
            <a:chOff x="8956684" y="132080"/>
            <a:chExt cx="3143876" cy="1103333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4D5D6F33-ED2F-4A03-9511-7F4760D16025}"/>
                </a:ext>
              </a:extLst>
            </p:cNvPr>
            <p:cNvGrpSpPr/>
            <p:nvPr/>
          </p:nvGrpSpPr>
          <p:grpSpPr>
            <a:xfrm>
              <a:off x="8956684" y="132080"/>
              <a:ext cx="3143876" cy="1103333"/>
              <a:chOff x="8956684" y="132080"/>
              <a:chExt cx="3143876" cy="1103333"/>
            </a:xfrm>
          </p:grpSpPr>
          <p:sp>
            <p:nvSpPr>
              <p:cNvPr id="30" name="Retângulo 29">
                <a:extLst>
                  <a:ext uri="{FF2B5EF4-FFF2-40B4-BE49-F238E27FC236}">
                    <a16:creationId xmlns:a16="http://schemas.microsoft.com/office/drawing/2014/main" id="{BC544DAF-786B-4B31-91B4-E36CF34D3038}"/>
                  </a:ext>
                </a:extLst>
              </p:cNvPr>
              <p:cNvSpPr/>
              <p:nvPr/>
            </p:nvSpPr>
            <p:spPr>
              <a:xfrm>
                <a:off x="9007810" y="132080"/>
                <a:ext cx="3092750" cy="110333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609FA241-63A1-4834-8FA6-E317280E86E0}"/>
                  </a:ext>
                </a:extLst>
              </p:cNvPr>
              <p:cNvSpPr txBox="1"/>
              <p:nvPr/>
            </p:nvSpPr>
            <p:spPr>
              <a:xfrm>
                <a:off x="8956684" y="295177"/>
                <a:ext cx="220536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4400" b="1" dirty="0">
                    <a:latin typeface="Arial Rounded MT Bold" panose="020F0704030504030204" pitchFamily="34" charset="0"/>
                    <a:cs typeface="Aharoni" panose="02010803020104030203" pitchFamily="2" charset="-79"/>
                  </a:rPr>
                  <a:t>AULA 3</a:t>
                </a:r>
              </a:p>
            </p:txBody>
          </p:sp>
        </p:grpSp>
        <p:pic>
          <p:nvPicPr>
            <p:cNvPr id="34" name="Picture 20" descr="Sala de aula - ícones de pessoas grátis">
              <a:extLst>
                <a:ext uri="{FF2B5EF4-FFF2-40B4-BE49-F238E27FC236}">
                  <a16:creationId xmlns:a16="http://schemas.microsoft.com/office/drawing/2014/main" id="{D9270CB1-7270-4F25-84E5-C9624C649A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72823" y="248871"/>
              <a:ext cx="846228" cy="8462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75211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808FB089-9D03-4A02-9517-02576B888343}"/>
              </a:ext>
            </a:extLst>
          </p:cNvPr>
          <p:cNvGrpSpPr/>
          <p:nvPr/>
        </p:nvGrpSpPr>
        <p:grpSpPr>
          <a:xfrm>
            <a:off x="301164" y="1801141"/>
            <a:ext cx="4249752" cy="4829264"/>
            <a:chOff x="301164" y="1801141"/>
            <a:chExt cx="4249752" cy="4829264"/>
          </a:xfrm>
        </p:grpSpPr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35286C52-1094-424A-A374-F69F745981DC}"/>
                </a:ext>
              </a:extLst>
            </p:cNvPr>
            <p:cNvGrpSpPr/>
            <p:nvPr/>
          </p:nvGrpSpPr>
          <p:grpSpPr>
            <a:xfrm>
              <a:off x="301164" y="1801141"/>
              <a:ext cx="4249752" cy="4829264"/>
              <a:chOff x="187746" y="1877438"/>
              <a:chExt cx="4249752" cy="4829264"/>
            </a:xfrm>
          </p:grpSpPr>
          <p:pic>
            <p:nvPicPr>
              <p:cNvPr id="18" name="Picture 12" descr="papel de nota branco 11287526 PNG">
                <a:extLst>
                  <a:ext uri="{FF2B5EF4-FFF2-40B4-BE49-F238E27FC236}">
                    <a16:creationId xmlns:a16="http://schemas.microsoft.com/office/drawing/2014/main" id="{C6DA3FB1-C783-4960-92E3-7BF6E422B82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duotone>
                  <a:prstClr val="black"/>
                  <a:srgbClr val="92D050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7746" y="1877438"/>
                <a:ext cx="4249752" cy="482926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7AA38699-0BC6-4F1C-953A-EF1188ECB28C}"/>
                  </a:ext>
                </a:extLst>
              </p:cNvPr>
              <p:cNvSpPr txBox="1"/>
              <p:nvPr/>
            </p:nvSpPr>
            <p:spPr>
              <a:xfrm>
                <a:off x="590671" y="2999018"/>
                <a:ext cx="361015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>
                    <a:solidFill>
                      <a:schemeClr val="bg1"/>
                    </a:solidFill>
                  </a:rPr>
                  <a:t>1. Entender Season e Off Sea-</a:t>
                </a:r>
              </a:p>
            </p:txBody>
          </p:sp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67134F50-4AE6-4FFC-8341-DAC1DD0F1A0D}"/>
                  </a:ext>
                </a:extLst>
              </p:cNvPr>
              <p:cNvSpPr txBox="1"/>
              <p:nvPr/>
            </p:nvSpPr>
            <p:spPr>
              <a:xfrm>
                <a:off x="590671" y="3489651"/>
                <a:ext cx="36149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>
                    <a:solidFill>
                      <a:schemeClr val="bg1"/>
                    </a:solidFill>
                  </a:rPr>
                  <a:t>son.</a:t>
                </a:r>
              </a:p>
            </p:txBody>
          </p:sp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DEEC45B5-5A4C-46A4-A8AC-AF9DE8CA24D9}"/>
                  </a:ext>
                </a:extLst>
              </p:cNvPr>
              <p:cNvSpPr txBox="1"/>
              <p:nvPr/>
            </p:nvSpPr>
            <p:spPr>
              <a:xfrm>
                <a:off x="585846" y="4099676"/>
                <a:ext cx="34535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>
                    <a:solidFill>
                      <a:schemeClr val="bg1"/>
                    </a:solidFill>
                  </a:rPr>
                  <a:t>2. Ferramentas de gestão</a:t>
                </a:r>
              </a:p>
            </p:txBody>
          </p:sp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15A75451-25F0-4B76-8324-B02DDF51C4F2}"/>
                  </a:ext>
                </a:extLst>
              </p:cNvPr>
              <p:cNvSpPr txBox="1"/>
              <p:nvPr/>
            </p:nvSpPr>
            <p:spPr>
              <a:xfrm>
                <a:off x="585845" y="5140865"/>
                <a:ext cx="36149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>
                    <a:solidFill>
                      <a:schemeClr val="bg1"/>
                    </a:solidFill>
                  </a:rPr>
                  <a:t>2.2. Estabelecer trajetória até</a:t>
                </a:r>
              </a:p>
            </p:txBody>
          </p:sp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354B323C-D675-4540-9CDD-BBC01292CF43}"/>
                  </a:ext>
                </a:extLst>
              </p:cNvPr>
              <p:cNvSpPr txBox="1"/>
              <p:nvPr/>
            </p:nvSpPr>
            <p:spPr>
              <a:xfrm>
                <a:off x="585845" y="5721706"/>
                <a:ext cx="36198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>
                    <a:solidFill>
                      <a:schemeClr val="bg1"/>
                    </a:solidFill>
                  </a:rPr>
                  <a:t>a Season BIOCORE 2027</a:t>
                </a:r>
              </a:p>
            </p:txBody>
          </p:sp>
        </p:grpSp>
        <p:sp>
          <p:nvSpPr>
            <p:cNvPr id="49" name="CaixaDeTexto 48">
              <a:extLst>
                <a:ext uri="{FF2B5EF4-FFF2-40B4-BE49-F238E27FC236}">
                  <a16:creationId xmlns:a16="http://schemas.microsoft.com/office/drawing/2014/main" id="{F4D8D04B-0DC5-4027-B06B-225A9ADBAF0B}"/>
                </a:ext>
              </a:extLst>
            </p:cNvPr>
            <p:cNvSpPr txBox="1"/>
            <p:nvPr/>
          </p:nvSpPr>
          <p:spPr>
            <a:xfrm>
              <a:off x="699263" y="4534934"/>
              <a:ext cx="3614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</a:rPr>
                <a:t>2.1. Manuseio do Excel</a:t>
              </a:r>
            </a:p>
          </p:txBody>
        </p:sp>
      </p:grpSp>
      <p:pic>
        <p:nvPicPr>
          <p:cNvPr id="12" name="Picture 4" descr="FIRST Brand and Logo Files | FIRST">
            <a:extLst>
              <a:ext uri="{FF2B5EF4-FFF2-40B4-BE49-F238E27FC236}">
                <a16:creationId xmlns:a16="http://schemas.microsoft.com/office/drawing/2014/main" id="{BF6A2643-6B79-F356-21C8-CE85AC8A3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719"/>
            <a:ext cx="211455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Seta: para a Direita 15">
            <a:extLst>
              <a:ext uri="{FF2B5EF4-FFF2-40B4-BE49-F238E27FC236}">
                <a16:creationId xmlns:a16="http://schemas.microsoft.com/office/drawing/2014/main" id="{B5219B27-424F-452F-B860-001B6582CC09}"/>
              </a:ext>
            </a:extLst>
          </p:cNvPr>
          <p:cNvSpPr/>
          <p:nvPr/>
        </p:nvSpPr>
        <p:spPr>
          <a:xfrm>
            <a:off x="2114549" y="58368"/>
            <a:ext cx="6842135" cy="1245140"/>
          </a:xfrm>
          <a:prstGeom prst="rightArrow">
            <a:avLst>
              <a:gd name="adj1" fmla="val 50000"/>
              <a:gd name="adj2" fmla="val 86274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CRONOGRAMA</a:t>
            </a:r>
          </a:p>
        </p:txBody>
      </p:sp>
      <p:pic>
        <p:nvPicPr>
          <p:cNvPr id="26" name="Picture 16" descr="Lista de tarefas - ícones de arquivos e pastas grátis">
            <a:extLst>
              <a:ext uri="{FF2B5EF4-FFF2-40B4-BE49-F238E27FC236}">
                <a16:creationId xmlns:a16="http://schemas.microsoft.com/office/drawing/2014/main" id="{8E5E6EB9-C985-44C7-ACF0-348333A04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315" y="4600294"/>
            <a:ext cx="1674779" cy="1674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7BC8F3E2-0FCD-4FE2-A4DF-9ED5CB1B3E3A}"/>
              </a:ext>
            </a:extLst>
          </p:cNvPr>
          <p:cNvSpPr txBox="1"/>
          <p:nvPr/>
        </p:nvSpPr>
        <p:spPr>
          <a:xfrm>
            <a:off x="6037801" y="4973339"/>
            <a:ext cx="3730648" cy="923330"/>
          </a:xfrm>
          <a:custGeom>
            <a:avLst/>
            <a:gdLst>
              <a:gd name="connsiteX0" fmla="*/ 0 w 3730648"/>
              <a:gd name="connsiteY0" fmla="*/ 0 h 923330"/>
              <a:gd name="connsiteX1" fmla="*/ 659081 w 3730648"/>
              <a:gd name="connsiteY1" fmla="*/ 0 h 923330"/>
              <a:gd name="connsiteX2" fmla="*/ 1280856 w 3730648"/>
              <a:gd name="connsiteY2" fmla="*/ 0 h 923330"/>
              <a:gd name="connsiteX3" fmla="*/ 1865324 w 3730648"/>
              <a:gd name="connsiteY3" fmla="*/ 0 h 923330"/>
              <a:gd name="connsiteX4" fmla="*/ 2375179 w 3730648"/>
              <a:gd name="connsiteY4" fmla="*/ 0 h 923330"/>
              <a:gd name="connsiteX5" fmla="*/ 2922341 w 3730648"/>
              <a:gd name="connsiteY5" fmla="*/ 0 h 923330"/>
              <a:gd name="connsiteX6" fmla="*/ 3730648 w 3730648"/>
              <a:gd name="connsiteY6" fmla="*/ 0 h 923330"/>
              <a:gd name="connsiteX7" fmla="*/ 3730648 w 3730648"/>
              <a:gd name="connsiteY7" fmla="*/ 461665 h 923330"/>
              <a:gd name="connsiteX8" fmla="*/ 3730648 w 3730648"/>
              <a:gd name="connsiteY8" fmla="*/ 923330 h 923330"/>
              <a:gd name="connsiteX9" fmla="*/ 3071567 w 3730648"/>
              <a:gd name="connsiteY9" fmla="*/ 923330 h 923330"/>
              <a:gd name="connsiteX10" fmla="*/ 2412486 w 3730648"/>
              <a:gd name="connsiteY10" fmla="*/ 923330 h 923330"/>
              <a:gd name="connsiteX11" fmla="*/ 1716098 w 3730648"/>
              <a:gd name="connsiteY11" fmla="*/ 923330 h 923330"/>
              <a:gd name="connsiteX12" fmla="*/ 1057017 w 3730648"/>
              <a:gd name="connsiteY12" fmla="*/ 923330 h 923330"/>
              <a:gd name="connsiteX13" fmla="*/ 0 w 3730648"/>
              <a:gd name="connsiteY13" fmla="*/ 923330 h 923330"/>
              <a:gd name="connsiteX14" fmla="*/ 0 w 3730648"/>
              <a:gd name="connsiteY14" fmla="*/ 480132 h 923330"/>
              <a:gd name="connsiteX15" fmla="*/ 0 w 3730648"/>
              <a:gd name="connsiteY15" fmla="*/ 0 h 923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730648" h="923330" extrusionOk="0">
                <a:moveTo>
                  <a:pt x="0" y="0"/>
                </a:moveTo>
                <a:cubicBezTo>
                  <a:pt x="283956" y="16276"/>
                  <a:pt x="465258" y="5961"/>
                  <a:pt x="659081" y="0"/>
                </a:cubicBezTo>
                <a:cubicBezTo>
                  <a:pt x="852904" y="-5961"/>
                  <a:pt x="983345" y="27532"/>
                  <a:pt x="1280856" y="0"/>
                </a:cubicBezTo>
                <a:cubicBezTo>
                  <a:pt x="1578368" y="-27532"/>
                  <a:pt x="1598240" y="26777"/>
                  <a:pt x="1865324" y="0"/>
                </a:cubicBezTo>
                <a:cubicBezTo>
                  <a:pt x="2132408" y="-26777"/>
                  <a:pt x="2133765" y="-13110"/>
                  <a:pt x="2375179" y="0"/>
                </a:cubicBezTo>
                <a:cubicBezTo>
                  <a:pt x="2616594" y="13110"/>
                  <a:pt x="2690581" y="3282"/>
                  <a:pt x="2922341" y="0"/>
                </a:cubicBezTo>
                <a:cubicBezTo>
                  <a:pt x="3154101" y="-3282"/>
                  <a:pt x="3531990" y="-17482"/>
                  <a:pt x="3730648" y="0"/>
                </a:cubicBezTo>
                <a:cubicBezTo>
                  <a:pt x="3737004" y="174881"/>
                  <a:pt x="3740549" y="275509"/>
                  <a:pt x="3730648" y="461665"/>
                </a:cubicBezTo>
                <a:cubicBezTo>
                  <a:pt x="3720747" y="647821"/>
                  <a:pt x="3725163" y="821670"/>
                  <a:pt x="3730648" y="923330"/>
                </a:cubicBezTo>
                <a:cubicBezTo>
                  <a:pt x="3504959" y="902338"/>
                  <a:pt x="3341324" y="940698"/>
                  <a:pt x="3071567" y="923330"/>
                </a:cubicBezTo>
                <a:cubicBezTo>
                  <a:pt x="2801810" y="905962"/>
                  <a:pt x="2721442" y="924940"/>
                  <a:pt x="2412486" y="923330"/>
                </a:cubicBezTo>
                <a:cubicBezTo>
                  <a:pt x="2103530" y="921720"/>
                  <a:pt x="2015302" y="912740"/>
                  <a:pt x="1716098" y="923330"/>
                </a:cubicBezTo>
                <a:cubicBezTo>
                  <a:pt x="1416894" y="933920"/>
                  <a:pt x="1199218" y="897113"/>
                  <a:pt x="1057017" y="923330"/>
                </a:cubicBezTo>
                <a:cubicBezTo>
                  <a:pt x="914816" y="949547"/>
                  <a:pt x="288342" y="903855"/>
                  <a:pt x="0" y="923330"/>
                </a:cubicBezTo>
                <a:cubicBezTo>
                  <a:pt x="19115" y="746379"/>
                  <a:pt x="-6647" y="660975"/>
                  <a:pt x="0" y="480132"/>
                </a:cubicBezTo>
                <a:cubicBezTo>
                  <a:pt x="6647" y="299289"/>
                  <a:pt x="7802" y="141836"/>
                  <a:pt x="0" y="0"/>
                </a:cubicBezTo>
                <a:close/>
              </a:path>
            </a:pathLst>
          </a:custGeom>
          <a:noFill/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98069433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just"/>
            <a:r>
              <a:rPr lang="pt-BR" b="1" i="1" u="sng" dirty="0"/>
              <a:t>Tarefa – Computador:</a:t>
            </a:r>
          </a:p>
          <a:p>
            <a:pPr algn="just"/>
            <a:r>
              <a:rPr lang="pt-BR" dirty="0"/>
              <a:t>Fazer um cronograma para a Season BIOCORE, jogo de 2027.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6C742A8F-E1D4-44C9-9D7C-65EE2A1B439A}"/>
              </a:ext>
            </a:extLst>
          </p:cNvPr>
          <p:cNvGrpSpPr/>
          <p:nvPr/>
        </p:nvGrpSpPr>
        <p:grpSpPr>
          <a:xfrm>
            <a:off x="8956684" y="132080"/>
            <a:ext cx="3143876" cy="1103333"/>
            <a:chOff x="8956684" y="132080"/>
            <a:chExt cx="3143876" cy="1103333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4D5D6F33-ED2F-4A03-9511-7F4760D16025}"/>
                </a:ext>
              </a:extLst>
            </p:cNvPr>
            <p:cNvGrpSpPr/>
            <p:nvPr/>
          </p:nvGrpSpPr>
          <p:grpSpPr>
            <a:xfrm>
              <a:off x="8956684" y="132080"/>
              <a:ext cx="3143876" cy="1103333"/>
              <a:chOff x="8956684" y="132080"/>
              <a:chExt cx="3143876" cy="1103333"/>
            </a:xfrm>
          </p:grpSpPr>
          <p:sp>
            <p:nvSpPr>
              <p:cNvPr id="30" name="Retângulo 29">
                <a:extLst>
                  <a:ext uri="{FF2B5EF4-FFF2-40B4-BE49-F238E27FC236}">
                    <a16:creationId xmlns:a16="http://schemas.microsoft.com/office/drawing/2014/main" id="{BC544DAF-786B-4B31-91B4-E36CF34D3038}"/>
                  </a:ext>
                </a:extLst>
              </p:cNvPr>
              <p:cNvSpPr/>
              <p:nvPr/>
            </p:nvSpPr>
            <p:spPr>
              <a:xfrm>
                <a:off x="9007810" y="132080"/>
                <a:ext cx="3092750" cy="110333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609FA241-63A1-4834-8FA6-E317280E86E0}"/>
                  </a:ext>
                </a:extLst>
              </p:cNvPr>
              <p:cNvSpPr txBox="1"/>
              <p:nvPr/>
            </p:nvSpPr>
            <p:spPr>
              <a:xfrm>
                <a:off x="8956684" y="295177"/>
                <a:ext cx="220536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4400" b="1" dirty="0">
                    <a:latin typeface="Arial Rounded MT Bold" panose="020F0704030504030204" pitchFamily="34" charset="0"/>
                    <a:cs typeface="Aharoni" panose="02010803020104030203" pitchFamily="2" charset="-79"/>
                  </a:rPr>
                  <a:t>AULA 4</a:t>
                </a:r>
              </a:p>
            </p:txBody>
          </p:sp>
        </p:grpSp>
        <p:pic>
          <p:nvPicPr>
            <p:cNvPr id="34" name="Picture 20" descr="Sala de aula - ícones de pessoas grátis">
              <a:extLst>
                <a:ext uri="{FF2B5EF4-FFF2-40B4-BE49-F238E27FC236}">
                  <a16:creationId xmlns:a16="http://schemas.microsoft.com/office/drawing/2014/main" id="{D9270CB1-7270-4F25-84E5-C9624C649A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72823" y="248871"/>
              <a:ext cx="846228" cy="8462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146" name="Picture 2" descr="Cronograma - ícones de hora e data grátis">
            <a:hlinkClick r:id="rId6"/>
            <a:extLst>
              <a:ext uri="{FF2B5EF4-FFF2-40B4-BE49-F238E27FC236}">
                <a16:creationId xmlns:a16="http://schemas.microsoft.com/office/drawing/2014/main" id="{464B3E9B-A51E-49D7-8A3D-D6E56702D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6721" y="1983092"/>
            <a:ext cx="2563155" cy="2563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Clicando - ícones de gestos grátis">
            <a:extLst>
              <a:ext uri="{FF2B5EF4-FFF2-40B4-BE49-F238E27FC236}">
                <a16:creationId xmlns:a16="http://schemas.microsoft.com/office/drawing/2014/main" id="{EE71E1AF-655E-4285-9444-53EC8D612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293" y="3421112"/>
            <a:ext cx="1143397" cy="1143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4913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FIRST Brand and Logo Files | FIRST">
            <a:extLst>
              <a:ext uri="{FF2B5EF4-FFF2-40B4-BE49-F238E27FC236}">
                <a16:creationId xmlns:a16="http://schemas.microsoft.com/office/drawing/2014/main" id="{BF6A2643-6B79-F356-21C8-CE85AC8A3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719"/>
            <a:ext cx="211455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7C02BA70-59A1-4AE3-B090-469384282FCA}"/>
              </a:ext>
            </a:extLst>
          </p:cNvPr>
          <p:cNvSpPr/>
          <p:nvPr/>
        </p:nvSpPr>
        <p:spPr>
          <a:xfrm>
            <a:off x="2114549" y="58368"/>
            <a:ext cx="6951629" cy="1245140"/>
          </a:xfrm>
          <a:prstGeom prst="rightArrow">
            <a:avLst>
              <a:gd name="adj1" fmla="val 50000"/>
              <a:gd name="adj2" fmla="val 86274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EQUIPE &amp; AWARDS</a:t>
            </a:r>
          </a:p>
        </p:txBody>
      </p:sp>
    </p:spTree>
    <p:extLst>
      <p:ext uri="{BB962C8B-B14F-4D97-AF65-F5344CB8AC3E}">
        <p14:creationId xmlns:p14="http://schemas.microsoft.com/office/powerpoint/2010/main" val="38441238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ha">
  <a:themeElements>
    <a:clrScheme name="Malh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alh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lh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TM03457485[[fn=Malha]]</Template>
  <TotalTime>2074</TotalTime>
  <Words>219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Arial Rounded MT Bold</vt:lpstr>
      <vt:lpstr>Century Gothic</vt:lpstr>
      <vt:lpstr>Courier New</vt:lpstr>
      <vt:lpstr>Malha</vt:lpstr>
      <vt:lpstr>INTRODUÇÃO A FRC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Swerve drive v1.9</dc:title>
  <dc:creator>Djair Oliveira - SENAI Rondonópolis-MT</dc:creator>
  <cp:lastModifiedBy>Djair Oliveira - SENAI RONDONOPOLIS</cp:lastModifiedBy>
  <cp:revision>73</cp:revision>
  <dcterms:created xsi:type="dcterms:W3CDTF">2024-01-16T22:43:47Z</dcterms:created>
  <dcterms:modified xsi:type="dcterms:W3CDTF">2026-06-19T21:47:28Z</dcterms:modified>
</cp:coreProperties>
</file>